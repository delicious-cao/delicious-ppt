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46CAC-7408-4214-84F2-8257EA3D8CBC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73438-53C4-4AA8-B4F5-18FBA6DFEA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594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介绍本次提案的使用场景与目标，约</a:t>
            </a:r>
            <a:r>
              <a:rPr lang="en-US" altLang="zh-CN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45</a:t>
            </a:r>
            <a:r>
              <a:rPr lang="zh-CN" altLang="en-US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秒。
正文来源：本示例 </a:t>
            </a:r>
            <a:r>
              <a:rPr lang="en-US" altLang="zh-CN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input.md </a:t>
            </a:r>
            <a:r>
              <a:rPr lang="zh-CN" altLang="en-US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的原创内容。
图片资源：</a:t>
            </a:r>
            <a:r>
              <a:rPr lang="en-US" altLang="zh-CN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assets/bg-01.png</a:t>
            </a:r>
            <a:endParaRPr lang="zh-CN" altLang="en-US">
              <a:solidFill>
                <a:srgbClr val="243B30"/>
              </a:solidFill>
              <a:latin typeface="Times New Roman" panose="02020603050405020304" pitchFamily="18" charset="0"/>
              <a:ea typeface="仿宋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73438-53C4-4AA8-B4F5-18FBA6DFEA2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869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结合三个使用情境说明空间安排，约</a:t>
            </a:r>
            <a:r>
              <a:rPr lang="en-US" altLang="zh-CN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90</a:t>
            </a:r>
            <a:r>
              <a:rPr lang="zh-CN" altLang="en-US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秒。
正文来源：本示例 </a:t>
            </a:r>
            <a:r>
              <a:rPr lang="en-US" altLang="zh-CN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input.md </a:t>
            </a:r>
            <a:r>
              <a:rPr lang="zh-CN" altLang="en-US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的原创内容。
图片资源：</a:t>
            </a:r>
            <a:r>
              <a:rPr lang="en-US" altLang="zh-CN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assets/bg-02.png</a:t>
            </a:r>
            <a:endParaRPr lang="zh-CN" altLang="en-US">
              <a:solidFill>
                <a:srgbClr val="243B30"/>
              </a:solidFill>
              <a:latin typeface="Times New Roman" panose="02020603050405020304" pitchFamily="18" charset="0"/>
              <a:ea typeface="仿宋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73438-53C4-4AA8-B4F5-18FBA6DFEA2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126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该表是提议的试运行计划，不代表已经实施的项目。约</a:t>
            </a:r>
            <a:r>
              <a:rPr lang="en-US" altLang="zh-CN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90</a:t>
            </a:r>
            <a:r>
              <a:rPr lang="zh-CN" altLang="en-US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秒。
正文来源：本示例 </a:t>
            </a:r>
            <a:r>
              <a:rPr lang="en-US" altLang="zh-CN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input.md </a:t>
            </a:r>
            <a:r>
              <a:rPr lang="zh-CN" altLang="en-US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的原创内容。
图片资源：</a:t>
            </a:r>
            <a:r>
              <a:rPr lang="en-US" altLang="zh-CN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assets/bg-03.png</a:t>
            </a:r>
            <a:endParaRPr lang="zh-CN" altLang="en-US">
              <a:solidFill>
                <a:srgbClr val="243B30"/>
              </a:solidFill>
              <a:latin typeface="Times New Roman" panose="02020603050405020304" pitchFamily="18" charset="0"/>
              <a:ea typeface="仿宋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73438-53C4-4AA8-B4F5-18FBA6DFEA2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311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总结希望收集的反馈，留出简短讨论，约</a:t>
            </a:r>
            <a:r>
              <a:rPr lang="en-US" altLang="zh-CN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75</a:t>
            </a:r>
            <a:r>
              <a:rPr lang="zh-CN" altLang="en-US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秒。
正文来源：本示例 </a:t>
            </a:r>
            <a:r>
              <a:rPr lang="en-US" altLang="zh-CN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input.md </a:t>
            </a:r>
            <a:r>
              <a:rPr lang="zh-CN" altLang="en-US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的原创内容。
图片资源：</a:t>
            </a:r>
            <a:r>
              <a:rPr lang="en-US" altLang="zh-CN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assets/bg-04.png</a:t>
            </a:r>
            <a:endParaRPr lang="zh-CN" altLang="en-US">
              <a:solidFill>
                <a:srgbClr val="243B30"/>
              </a:solidFill>
              <a:latin typeface="Times New Roman" panose="02020603050405020304" pitchFamily="18" charset="0"/>
              <a:ea typeface="仿宋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73438-53C4-4AA8-B4F5-18FBA6DFEA2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542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A91632-9423-6D92-9C0F-080086461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1506870-D269-BFEA-AE37-08CCF5DBE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CD2C61-29D8-D051-5FC8-0E97CA8E3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30B1-4EE3-43FE-9ED4-F7679AB172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19085E-3972-F536-F727-903215630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352C3E-DDB4-1EFA-E286-890A36378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4B75-0540-46F2-9813-CCA267CB3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223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8D2F7-BB90-F07A-453F-AB28152B7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C7A6BC-7171-6856-FB7C-F7F09C5CE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0B23AE-8E97-A22B-2AB5-045B86BA1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30B1-4EE3-43FE-9ED4-F7679AB172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0ED595-E043-E0AF-AF3B-283806E97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05780B-B472-3D78-18C1-DC252EAFE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4B75-0540-46F2-9813-CCA267CB3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224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DA1B02-89C0-1B3E-3605-252A2583A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DE364F-B516-3B3B-8B87-3709AE07A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0506FC-55F6-06E4-0392-4DCE94B37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30B1-4EE3-43FE-9ED4-F7679AB172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9BBE62-638C-F0C5-EDA5-759E8CE99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C614C7-57A0-990F-1838-E9A55C530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4B75-0540-46F2-9813-CCA267CB3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30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C1F9DB-FCBF-8142-B44E-17F7DD44E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A39D7E-E97D-682E-9DBA-EC7573A47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E457AD-FC70-147F-2C42-FE92EA657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2345E9-5B1B-7B1A-10A7-FE97B4D20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30B1-4EE3-43FE-9ED4-F7679AB172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3A7D35-A861-6C34-FD05-90D151ADC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8E52F3-E9C9-1B71-8DFA-1AB98AC87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4B75-0540-46F2-9813-CCA267CB3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468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0CC365-2FF7-FC64-57D0-FEAB4B1B7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06240F-DBA1-3A43-DEC9-9E3E54A6A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AFB6A4-520A-48EB-7BB7-CBC0C5F23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676820-7DE9-EEF0-CAF8-F11014D07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DE6DD8-8959-8CA1-616D-77A2A954FF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C5902AA-FF14-8486-3D8C-BF30164A2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30B1-4EE3-43FE-9ED4-F7679AB172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06D976-8E28-815B-A2C5-7D1488A4A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7DA019D-F285-A7E4-6EA0-38969885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4B75-0540-46F2-9813-CCA267CB3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204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2B5181-8938-4B04-5F45-29A8C3CA3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868951-73B4-F9E6-41C9-EE6162386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30B1-4EE3-43FE-9ED4-F7679AB172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BB4010-58E7-20B3-9263-DC3764A88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2261D7-AFCC-4073-18F0-45F6548C2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4B75-0540-46F2-9813-CCA267CB3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838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E4732B-0F9F-6F33-04B6-E193F79AE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30B1-4EE3-43FE-9ED4-F7679AB172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3C30D6-BEF1-878F-9FDE-6EDABB146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A36CD0-9081-B002-6F52-C5B114387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4B75-0540-46F2-9813-CCA267CB3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960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AC9929-ED4C-2DA9-BCD9-B01C545D6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1B3D10-9CC2-2424-47A2-D48BE1396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4BDCFA-3E74-32B5-79C6-AEA5F35A3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9CED48-EE9A-9E06-6FB9-5D292376D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30B1-4EE3-43FE-9ED4-F7679AB172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688D8F-40A8-E7E2-9634-0E0E94102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C30CAE-F30E-757A-74AF-E7C947B9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4B75-0540-46F2-9813-CCA267CB3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560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8F6F58-7EB6-6904-3C85-C473B39E9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806BDAF-000B-271C-EDF6-87BA2CBDCC4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608189-5D82-D26C-2709-AC0329E8D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F40329-C42E-D576-5B7E-96CA2C9BE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30B1-4EE3-43FE-9ED4-F7679AB172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AD00D6-2805-BAF6-CB84-A29967FD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F7E985-6E82-49E3-C601-5B81CF43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4B75-0540-46F2-9813-CCA267CB3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94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254C4A-4F05-9ACE-8883-CC953814A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DC792F-BD24-5062-88E6-9300780D7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A9578F-EF50-DE2F-53DC-62882EB41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30B1-4EE3-43FE-9ED4-F7679AB172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2BC6C4-09AE-70A4-C0D0-F4F9BA19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E756EA-2FD0-E91E-ADCC-B76780EDB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4B75-0540-46F2-9813-CCA267CB3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107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801E19F-3F44-8DFD-E48E-17D10F309E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3FF8F5-D686-60C7-3B21-72586C75F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069AFA-B864-7038-FA2D-484DE5614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30B1-4EE3-43FE-9ED4-F7679AB172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E6112C-416F-6918-D56E-296D19C3F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E91241-A94F-9C82-9BC2-36341EBF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E4B75-0540-46F2-9813-CCA267CB3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531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4C88821-1EF0-F61D-E805-63194CA86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EEDDA8-0784-3501-059F-8D234A947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84740B-070C-9218-6255-10C6FC747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8730B1-4EE3-43FE-9ED4-F7679AB172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EA3655-DF29-27E7-A41B-B14DC85C3F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5A2930-5D3E-2D52-F70D-1DB00C399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3E4B75-0540-46F2-9813-CCA267CB3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71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-image" descr="明亮的校园阅读空间，木质书架、座位与柔和日光">
            <a:extLst>
              <a:ext uri="{FF2B5EF4-FFF2-40B4-BE49-F238E27FC236}">
                <a16:creationId xmlns:a16="http://schemas.microsoft.com/office/drawing/2014/main" id="{E24F07B1-0360-2EF8-4648-E30C7DD0AA6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3"/>
            <a:ext cx="12192000" cy="6861646"/>
          </a:xfrm>
          <a:prstGeom prst="rect">
            <a:avLst/>
          </a:prstGeom>
        </p:spPr>
      </p:pic>
      <p:sp>
        <p:nvSpPr>
          <p:cNvPr id="4" name="background-text-fade">
            <a:extLst>
              <a:ext uri="{FF2B5EF4-FFF2-40B4-BE49-F238E27FC236}">
                <a16:creationId xmlns:a16="http://schemas.microsoft.com/office/drawing/2014/main" id="{6D934538-4B48-D32E-F004-7C63721CB0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7F3E9">
                  <a:alpha val="52000"/>
                </a:srgbClr>
              </a:gs>
              <a:gs pos="100000">
                <a:srgbClr val="F7F3E9">
                  <a:alpha val="0"/>
                </a:srgbClr>
              </a:gs>
              <a:gs pos="60000">
                <a:srgbClr val="F7F3E9">
                  <a:alpha val="49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E7FF4AAE-5F62-FDE3-E212-75AFA7D3B8B6}"/>
              </a:ext>
            </a:extLst>
          </p:cNvPr>
          <p:cNvSpPr txBox="1"/>
          <p:nvPr/>
        </p:nvSpPr>
        <p:spPr>
          <a:xfrm>
            <a:off x="812800" y="1917700"/>
            <a:ext cx="82550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4400">
                <a:solidFill>
                  <a:srgbClr val="243B30"/>
                </a:solidFill>
                <a:latin typeface="Times New Roman" panose="02020603050405020304" pitchFamily="18" charset="0"/>
                <a:ea typeface="方正小标宋简体" panose="02010601030101010101" pitchFamily="2" charset="-122"/>
                <a:sym typeface="Times New Roman" panose="02020603050405020304" pitchFamily="18" charset="0"/>
              </a:rPr>
              <a:t>校园阅读空间</a:t>
            </a:r>
          </a:p>
        </p:txBody>
      </p:sp>
      <p:sp>
        <p:nvSpPr>
          <p:cNvPr id="6" name="body-1">
            <a:extLst>
              <a:ext uri="{FF2B5EF4-FFF2-40B4-BE49-F238E27FC236}">
                <a16:creationId xmlns:a16="http://schemas.microsoft.com/office/drawing/2014/main" id="{C59789F9-C155-77EF-5DDA-04CF3129EB8A}"/>
              </a:ext>
            </a:extLst>
          </p:cNvPr>
          <p:cNvSpPr txBox="1"/>
          <p:nvPr/>
        </p:nvSpPr>
        <p:spPr>
          <a:xfrm>
            <a:off x="838200" y="3175000"/>
            <a:ext cx="7493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课间阅读角改造提案</a:t>
            </a:r>
          </a:p>
        </p:txBody>
      </p:sp>
      <p:sp>
        <p:nvSpPr>
          <p:cNvPr id="7" name="body-2">
            <a:extLst>
              <a:ext uri="{FF2B5EF4-FFF2-40B4-BE49-F238E27FC236}">
                <a16:creationId xmlns:a16="http://schemas.microsoft.com/office/drawing/2014/main" id="{F21D532B-03B5-2DAF-E0C1-9E7DD987DCCE}"/>
              </a:ext>
            </a:extLst>
          </p:cNvPr>
          <p:cNvSpPr txBox="1"/>
          <p:nvPr/>
        </p:nvSpPr>
        <p:spPr>
          <a:xfrm>
            <a:off x="838200" y="3784600"/>
            <a:ext cx="7493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一个可以随时坐下来读书的地方</a:t>
            </a:r>
          </a:p>
        </p:txBody>
      </p:sp>
      <p:sp>
        <p:nvSpPr>
          <p:cNvPr id="8" name="page-number">
            <a:extLst>
              <a:ext uri="{FF2B5EF4-FFF2-40B4-BE49-F238E27FC236}">
                <a16:creationId xmlns:a16="http://schemas.microsoft.com/office/drawing/2014/main" id="{C3F41305-F7BD-1EA1-338B-3041D8A96F5A}"/>
              </a:ext>
            </a:extLst>
          </p:cNvPr>
          <p:cNvSpPr txBox="1"/>
          <p:nvPr/>
        </p:nvSpPr>
        <p:spPr>
          <a:xfrm>
            <a:off x="838200" y="6248400"/>
            <a:ext cx="571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243B3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01</a:t>
            </a:r>
            <a:endParaRPr lang="zh-CN" altLang="en-US" sz="1300">
              <a:solidFill>
                <a:srgbClr val="243B3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988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-image" descr="明亮的校园阅读空间，木质书架、座位与柔和日光">
            <a:extLst>
              <a:ext uri="{FF2B5EF4-FFF2-40B4-BE49-F238E27FC236}">
                <a16:creationId xmlns:a16="http://schemas.microsoft.com/office/drawing/2014/main" id="{703801E9-9CB1-2701-400B-7BBA34FA12E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3"/>
            <a:ext cx="12192000" cy="6861646"/>
          </a:xfrm>
          <a:prstGeom prst="rect">
            <a:avLst/>
          </a:prstGeom>
        </p:spPr>
      </p:pic>
      <p:sp>
        <p:nvSpPr>
          <p:cNvPr id="4" name="background-text-fade">
            <a:extLst>
              <a:ext uri="{FF2B5EF4-FFF2-40B4-BE49-F238E27FC236}">
                <a16:creationId xmlns:a16="http://schemas.microsoft.com/office/drawing/2014/main" id="{0CD7A706-DFC0-48D3-9950-F932FDFA93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7F3E9">
                  <a:alpha val="52000"/>
                </a:srgbClr>
              </a:gs>
              <a:gs pos="100000">
                <a:srgbClr val="F7F3E9">
                  <a:alpha val="0"/>
                </a:srgbClr>
              </a:gs>
              <a:gs pos="60000">
                <a:srgbClr val="F7F3E9">
                  <a:alpha val="49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A9627423-27AE-9417-7D00-A34C366E5870}"/>
              </a:ext>
            </a:extLst>
          </p:cNvPr>
          <p:cNvSpPr txBox="1"/>
          <p:nvPr/>
        </p:nvSpPr>
        <p:spPr>
          <a:xfrm>
            <a:off x="812800" y="838200"/>
            <a:ext cx="101600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400">
                <a:solidFill>
                  <a:srgbClr val="243B30"/>
                </a:solidFill>
                <a:latin typeface="Times New Roman" panose="02020603050405020304" pitchFamily="18" charset="0"/>
                <a:ea typeface="方正小标宋简体" panose="02010601030101010101" pitchFamily="2" charset="-122"/>
                <a:sym typeface="Times New Roman" panose="02020603050405020304" pitchFamily="18" charset="0"/>
              </a:rPr>
              <a:t>阅读角的使用场景</a:t>
            </a:r>
          </a:p>
        </p:txBody>
      </p:sp>
      <p:sp>
        <p:nvSpPr>
          <p:cNvPr id="6" name="body-1">
            <a:extLst>
              <a:ext uri="{FF2B5EF4-FFF2-40B4-BE49-F238E27FC236}">
                <a16:creationId xmlns:a16="http://schemas.microsoft.com/office/drawing/2014/main" id="{420381DF-3CDE-E72B-2660-3F7591423068}"/>
              </a:ext>
            </a:extLst>
          </p:cNvPr>
          <p:cNvSpPr txBox="1"/>
          <p:nvPr/>
        </p:nvSpPr>
        <p:spPr>
          <a:xfrm>
            <a:off x="838200" y="2146300"/>
            <a:ext cx="78740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课间短读：让一本书在</a:t>
            </a:r>
            <a:r>
              <a:rPr lang="en-US" altLang="zh-CN" sz="2400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5</a:t>
            </a:r>
            <a:r>
              <a:rPr lang="zh-CN" altLang="en-US" sz="2400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分钟内被翻开。</a:t>
            </a:r>
          </a:p>
        </p:txBody>
      </p:sp>
      <p:sp>
        <p:nvSpPr>
          <p:cNvPr id="7" name="body-2">
            <a:extLst>
              <a:ext uri="{FF2B5EF4-FFF2-40B4-BE49-F238E27FC236}">
                <a16:creationId xmlns:a16="http://schemas.microsoft.com/office/drawing/2014/main" id="{670C74DD-F6DA-6FA4-D815-2354BDAE1C39}"/>
              </a:ext>
            </a:extLst>
          </p:cNvPr>
          <p:cNvSpPr txBox="1"/>
          <p:nvPr/>
        </p:nvSpPr>
        <p:spPr>
          <a:xfrm>
            <a:off x="838200" y="3263900"/>
            <a:ext cx="78740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同伴交流：为两三人的安静讨论留出位置。</a:t>
            </a:r>
          </a:p>
        </p:txBody>
      </p:sp>
      <p:sp>
        <p:nvSpPr>
          <p:cNvPr id="8" name="body-3">
            <a:extLst>
              <a:ext uri="{FF2B5EF4-FFF2-40B4-BE49-F238E27FC236}">
                <a16:creationId xmlns:a16="http://schemas.microsoft.com/office/drawing/2014/main" id="{1EA47183-092F-AE12-E943-3C9854FCCA5C}"/>
              </a:ext>
            </a:extLst>
          </p:cNvPr>
          <p:cNvSpPr txBox="1"/>
          <p:nvPr/>
        </p:nvSpPr>
        <p:spPr>
          <a:xfrm>
            <a:off x="838200" y="4381500"/>
            <a:ext cx="78740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独处阅读：给想安静一会儿的同学一个座位。</a:t>
            </a:r>
          </a:p>
        </p:txBody>
      </p:sp>
      <p:sp>
        <p:nvSpPr>
          <p:cNvPr id="9" name="page-number">
            <a:extLst>
              <a:ext uri="{FF2B5EF4-FFF2-40B4-BE49-F238E27FC236}">
                <a16:creationId xmlns:a16="http://schemas.microsoft.com/office/drawing/2014/main" id="{0E0EDDD2-E68F-4EF8-290F-EF305098FC7B}"/>
              </a:ext>
            </a:extLst>
          </p:cNvPr>
          <p:cNvSpPr txBox="1"/>
          <p:nvPr/>
        </p:nvSpPr>
        <p:spPr>
          <a:xfrm>
            <a:off x="838200" y="6248400"/>
            <a:ext cx="571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243B3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02</a:t>
            </a:r>
            <a:endParaRPr lang="zh-CN" altLang="en-US" sz="1300">
              <a:solidFill>
                <a:srgbClr val="243B3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520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-image" descr="明亮的校园阅读空间，木质书架、座位与柔和日光">
            <a:extLst>
              <a:ext uri="{FF2B5EF4-FFF2-40B4-BE49-F238E27FC236}">
                <a16:creationId xmlns:a16="http://schemas.microsoft.com/office/drawing/2014/main" id="{807F7714-5CF5-2C04-65C1-05DD7FCC892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3"/>
            <a:ext cx="12192000" cy="6861646"/>
          </a:xfrm>
          <a:prstGeom prst="rect">
            <a:avLst/>
          </a:prstGeom>
        </p:spPr>
      </p:pic>
      <p:sp>
        <p:nvSpPr>
          <p:cNvPr id="4" name="background-text-fade">
            <a:extLst>
              <a:ext uri="{FF2B5EF4-FFF2-40B4-BE49-F238E27FC236}">
                <a16:creationId xmlns:a16="http://schemas.microsoft.com/office/drawing/2014/main" id="{B69D38DD-22BF-8084-36B2-55B8213B02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7F3E9">
                  <a:alpha val="98000"/>
                </a:srgbClr>
              </a:gs>
              <a:gs pos="100000">
                <a:srgbClr val="F7F3E9">
                  <a:alpha val="0"/>
                </a:srgbClr>
              </a:gs>
              <a:gs pos="60000">
                <a:srgbClr val="F7F3E9">
                  <a:alpha val="95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C2B066EF-7EF1-81D0-A393-71183036C280}"/>
              </a:ext>
            </a:extLst>
          </p:cNvPr>
          <p:cNvSpPr txBox="1"/>
          <p:nvPr/>
        </p:nvSpPr>
        <p:spPr>
          <a:xfrm>
            <a:off x="812800" y="838200"/>
            <a:ext cx="101600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400">
                <a:solidFill>
                  <a:srgbClr val="243B30"/>
                </a:solidFill>
                <a:latin typeface="Times New Roman" panose="02020603050405020304" pitchFamily="18" charset="0"/>
                <a:ea typeface="方正小标宋简体" panose="02010601030101010101" pitchFamily="2" charset="-122"/>
                <a:sym typeface="Times New Roman" panose="02020603050405020304" pitchFamily="18" charset="0"/>
              </a:rPr>
              <a:t>一周试运行安排</a:t>
            </a:r>
          </a:p>
        </p:txBody>
      </p:sp>
      <p:graphicFrame>
        <p:nvGraphicFramePr>
          <p:cNvPr id="6" name="editable-schedule">
            <a:extLst>
              <a:ext uri="{FF2B5EF4-FFF2-40B4-BE49-F238E27FC236}">
                <a16:creationId xmlns:a16="http://schemas.microsoft.com/office/drawing/2014/main" id="{A3A1E35A-D096-1DD9-4B8C-E20597581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50487"/>
              </p:ext>
            </p:extLst>
          </p:nvPr>
        </p:nvGraphicFramePr>
        <p:xfrm>
          <a:off x="812800" y="2159000"/>
          <a:ext cx="8890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102508074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857680249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634909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zh-CN" altLang="en-US" sz="2000" b="0">
                          <a:solidFill>
                            <a:srgbClr val="243B3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阶段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0">
                          <a:solidFill>
                            <a:srgbClr val="243B3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安排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0">
                          <a:solidFill>
                            <a:srgbClr val="243B3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完成标志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79023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zh-CN" altLang="en-US" sz="2100" b="0">
                          <a:solidFill>
                            <a:srgbClr val="243B3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第</a:t>
                      </a:r>
                      <a:r>
                        <a:rPr lang="en-US" altLang="zh-CN" sz="2100" b="0">
                          <a:solidFill>
                            <a:srgbClr val="243B3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2100" b="0">
                          <a:solidFill>
                            <a:srgbClr val="243B3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天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100" b="0">
                          <a:solidFill>
                            <a:srgbClr val="243B3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布置阅读角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100" b="0">
                          <a:solidFill>
                            <a:srgbClr val="243B3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动线与座位确定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98241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zh-CN" altLang="en-US" sz="2100" b="0">
                          <a:solidFill>
                            <a:srgbClr val="243B3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第</a:t>
                      </a:r>
                      <a:r>
                        <a:rPr lang="en-US" altLang="zh-CN" sz="2100" b="0">
                          <a:solidFill>
                            <a:srgbClr val="243B3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2–4</a:t>
                      </a:r>
                      <a:r>
                        <a:rPr lang="zh-CN" altLang="en-US" sz="2100" b="0">
                          <a:solidFill>
                            <a:srgbClr val="243B3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天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100" b="0">
                          <a:solidFill>
                            <a:srgbClr val="243B3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开放与观察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100" b="0">
                          <a:solidFill>
                            <a:srgbClr val="243B3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记录使用与归还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36822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zh-CN" altLang="en-US" sz="2100" b="0">
                          <a:solidFill>
                            <a:srgbClr val="243B3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第</a:t>
                      </a:r>
                      <a:r>
                        <a:rPr lang="en-US" altLang="zh-CN" sz="2100" b="0">
                          <a:solidFill>
                            <a:srgbClr val="243B3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5</a:t>
                      </a:r>
                      <a:r>
                        <a:rPr lang="zh-CN" altLang="en-US" sz="2100" b="0">
                          <a:solidFill>
                            <a:srgbClr val="243B3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天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100" b="0">
                          <a:solidFill>
                            <a:srgbClr val="243B3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收集反馈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100" b="0">
                          <a:solidFill>
                            <a:srgbClr val="243B30"/>
                          </a:solidFill>
                          <a:latin typeface="Times New Roman" panose="02020603050405020304" pitchFamily="18" charset="0"/>
                          <a:ea typeface="仿宋" panose="02010609060101010101" pitchFamily="49" charset="-122"/>
                          <a:sym typeface="Times New Roman" panose="02020603050405020304" pitchFamily="18" charset="0"/>
                        </a:rPr>
                        <a:t>整理下一轮调整</a:t>
                      </a:r>
                    </a:p>
                  </a:txBody>
                  <a:tcPr marL="152400" marR="127000" marT="101600" marB="101600" anchor="ctr">
                    <a:lnL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3E9">
                          <a:alpha val="22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9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249339"/>
                  </a:ext>
                </a:extLst>
              </a:tr>
            </a:tbl>
          </a:graphicData>
        </a:graphic>
      </p:graphicFrame>
      <p:sp>
        <p:nvSpPr>
          <p:cNvPr id="7" name="table-caption">
            <a:extLst>
              <a:ext uri="{FF2B5EF4-FFF2-40B4-BE49-F238E27FC236}">
                <a16:creationId xmlns:a16="http://schemas.microsoft.com/office/drawing/2014/main" id="{AC82625E-FE4B-AE32-CE29-33B79173DB2C}"/>
              </a:ext>
            </a:extLst>
          </p:cNvPr>
          <p:cNvSpPr txBox="1"/>
          <p:nvPr/>
        </p:nvSpPr>
        <p:spPr>
          <a:xfrm>
            <a:off x="838200" y="5549900"/>
            <a:ext cx="9398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000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试运行安排可根据实际场地与课间时间调整。</a:t>
            </a:r>
          </a:p>
        </p:txBody>
      </p:sp>
      <p:sp>
        <p:nvSpPr>
          <p:cNvPr id="8" name="page-number">
            <a:extLst>
              <a:ext uri="{FF2B5EF4-FFF2-40B4-BE49-F238E27FC236}">
                <a16:creationId xmlns:a16="http://schemas.microsoft.com/office/drawing/2014/main" id="{C1C71AAB-AD07-4F91-B742-DB2B59139B28}"/>
              </a:ext>
            </a:extLst>
          </p:cNvPr>
          <p:cNvSpPr txBox="1"/>
          <p:nvPr/>
        </p:nvSpPr>
        <p:spPr>
          <a:xfrm>
            <a:off x="838200" y="6248400"/>
            <a:ext cx="571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243B3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03</a:t>
            </a:r>
            <a:endParaRPr lang="zh-CN" altLang="en-US" sz="1300">
              <a:solidFill>
                <a:srgbClr val="243B3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704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-image" descr="明亮的校园阅读空间，木质书架、座位与柔和日光">
            <a:extLst>
              <a:ext uri="{FF2B5EF4-FFF2-40B4-BE49-F238E27FC236}">
                <a16:creationId xmlns:a16="http://schemas.microsoft.com/office/drawing/2014/main" id="{C7B8CE1B-64D1-B3C4-CD5D-219A3F435A4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3"/>
            <a:ext cx="12192000" cy="6861646"/>
          </a:xfrm>
          <a:prstGeom prst="rect">
            <a:avLst/>
          </a:prstGeom>
        </p:spPr>
      </p:pic>
      <p:sp>
        <p:nvSpPr>
          <p:cNvPr id="4" name="background-text-fade">
            <a:extLst>
              <a:ext uri="{FF2B5EF4-FFF2-40B4-BE49-F238E27FC236}">
                <a16:creationId xmlns:a16="http://schemas.microsoft.com/office/drawing/2014/main" id="{C5A479E0-FF80-42A3-D15A-836BBDA48B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7F3E9">
                  <a:alpha val="52000"/>
                </a:srgbClr>
              </a:gs>
              <a:gs pos="100000">
                <a:srgbClr val="F7F3E9">
                  <a:alpha val="0"/>
                </a:srgbClr>
              </a:gs>
              <a:gs pos="60000">
                <a:srgbClr val="F7F3E9">
                  <a:alpha val="4900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D7189E0E-5687-8F30-CA46-AD161A469EE7}"/>
              </a:ext>
            </a:extLst>
          </p:cNvPr>
          <p:cNvSpPr txBox="1"/>
          <p:nvPr/>
        </p:nvSpPr>
        <p:spPr>
          <a:xfrm>
            <a:off x="812800" y="838200"/>
            <a:ext cx="10160000" cy="863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400">
                <a:solidFill>
                  <a:srgbClr val="243B30"/>
                </a:solidFill>
                <a:latin typeface="Times New Roman" panose="02020603050405020304" pitchFamily="18" charset="0"/>
                <a:ea typeface="方正小标宋简体" panose="02010601030101010101" pitchFamily="2" charset="-122"/>
                <a:sym typeface="Times New Roman" panose="02020603050405020304" pitchFamily="18" charset="0"/>
              </a:rPr>
              <a:t>反馈与下一步</a:t>
            </a:r>
          </a:p>
        </p:txBody>
      </p:sp>
      <p:sp>
        <p:nvSpPr>
          <p:cNvPr id="6" name="body-1">
            <a:extLst>
              <a:ext uri="{FF2B5EF4-FFF2-40B4-BE49-F238E27FC236}">
                <a16:creationId xmlns:a16="http://schemas.microsoft.com/office/drawing/2014/main" id="{3BD683FF-ACA7-64D5-6486-64ABADD128C2}"/>
              </a:ext>
            </a:extLst>
          </p:cNvPr>
          <p:cNvSpPr txBox="1"/>
          <p:nvPr/>
        </p:nvSpPr>
        <p:spPr>
          <a:xfrm>
            <a:off x="838200" y="2146300"/>
            <a:ext cx="78740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观察使用：记录谁在使用、何时停留、书是否归位。</a:t>
            </a:r>
          </a:p>
        </p:txBody>
      </p:sp>
      <p:sp>
        <p:nvSpPr>
          <p:cNvPr id="7" name="body-2">
            <a:extLst>
              <a:ext uri="{FF2B5EF4-FFF2-40B4-BE49-F238E27FC236}">
                <a16:creationId xmlns:a16="http://schemas.microsoft.com/office/drawing/2014/main" id="{21B7E542-A29B-E055-CDBF-9F600C1FC0EB}"/>
              </a:ext>
            </a:extLst>
          </p:cNvPr>
          <p:cNvSpPr txBox="1"/>
          <p:nvPr/>
        </p:nvSpPr>
        <p:spPr>
          <a:xfrm>
            <a:off x="838200" y="3263900"/>
            <a:ext cx="78740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收集意见：写下最想保留和最想改变的地方。</a:t>
            </a:r>
          </a:p>
        </p:txBody>
      </p:sp>
      <p:sp>
        <p:nvSpPr>
          <p:cNvPr id="8" name="body-3">
            <a:extLst>
              <a:ext uri="{FF2B5EF4-FFF2-40B4-BE49-F238E27FC236}">
                <a16:creationId xmlns:a16="http://schemas.microsoft.com/office/drawing/2014/main" id="{A2A2F5CF-6373-70D1-07D6-80840FE64FBE}"/>
              </a:ext>
            </a:extLst>
          </p:cNvPr>
          <p:cNvSpPr txBox="1"/>
          <p:nvPr/>
        </p:nvSpPr>
        <p:spPr>
          <a:xfrm>
            <a:off x="838200" y="4381500"/>
            <a:ext cx="78740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400">
                <a:solidFill>
                  <a:srgbClr val="243B30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Times New Roman" panose="02020603050405020304" pitchFamily="18" charset="0"/>
              </a:rPr>
              <a:t>调整方案：先处理影响使用的问题，再扩展空间与书目。</a:t>
            </a:r>
          </a:p>
        </p:txBody>
      </p:sp>
      <p:sp>
        <p:nvSpPr>
          <p:cNvPr id="9" name="page-number">
            <a:extLst>
              <a:ext uri="{FF2B5EF4-FFF2-40B4-BE49-F238E27FC236}">
                <a16:creationId xmlns:a16="http://schemas.microsoft.com/office/drawing/2014/main" id="{79F60B11-883D-15F7-544F-A956792C61BB}"/>
              </a:ext>
            </a:extLst>
          </p:cNvPr>
          <p:cNvSpPr txBox="1"/>
          <p:nvPr/>
        </p:nvSpPr>
        <p:spPr>
          <a:xfrm>
            <a:off x="838200" y="6248400"/>
            <a:ext cx="5715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>
                <a:solidFill>
                  <a:srgbClr val="243B3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04</a:t>
            </a:r>
            <a:endParaRPr lang="zh-CN" altLang="en-US" sz="1300">
              <a:solidFill>
                <a:srgbClr val="243B3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481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Microsoft Office PowerPoint</Application>
  <PresentationFormat>自定义</PresentationFormat>
  <Paragraphs>37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Floyd Sibyl</dc:creator>
  <cp:lastModifiedBy>Floyd Sibyl</cp:lastModifiedBy>
  <cp:revision>1</cp:revision>
  <dcterms:created xsi:type="dcterms:W3CDTF">2026-10-21T10:22:38Z</dcterms:created>
  <dcterms:modified xsi:type="dcterms:W3CDTF">2026-10-21T10:22:38Z</dcterms:modified>
</cp:coreProperties>
</file>