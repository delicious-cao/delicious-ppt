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F20E4-62FE-485A-B078-3CBB265E88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B746A-0929-474A-8B98-1F7D03E40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介绍观察练习的目标，约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45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图片出处：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https://commons.wikimedia.org/wiki/File:Tree_in_park_in_Cupertino_California.JPG
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作者：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Tomwsulcer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；许可：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CC0-1.0</a:t>
            </a:r>
            <a:endParaRPr lang="zh-CN" altLang="en-US">
              <a:solidFill>
                <a:srgbClr val="18392A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746A-0929-474A-8B98-1F7D03E407E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087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提出观察方向，不据背景照片推断物种，约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90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图片出处：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https://commons.wikimedia.org/wiki/File:Leaves_on_tree%2C_Manhasset_%281%29.jpg
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作者：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D. Benjamin Miller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；许可：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CC0-1.0</a:t>
            </a:r>
            <a:endParaRPr lang="zh-CN" altLang="en-US">
              <a:solidFill>
                <a:srgbClr val="18392A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746A-0929-474A-8B98-1F7D03E407E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21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解释可供采用的练习安排。样例讲解约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90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秒，户外练习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10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分钟另计。
正文来源：本示例 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图片出处：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https://commons.wikimedia.org/wiki/File:Conservatory_Garden_central_lawn_jeh.jpg
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作者：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Jim.henderson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；许可：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CC0-1.0</a:t>
            </a:r>
            <a:endParaRPr lang="zh-CN" altLang="en-US">
              <a:solidFill>
                <a:srgbClr val="18392A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746A-0929-474A-8B98-1F7D03E407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73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总结记录方法，样例讲解约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75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图片出处：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https://commons.wikimedia.org/wiki/File:Leaves_of_a_green_fern.jpg
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作者：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Joselodos</a:t>
            </a:r>
            <a:r>
              <a:rPr lang="zh-CN" altLang="en-US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；许可：</a:t>
            </a:r>
            <a:r>
              <a:rPr lang="en-US" altLang="zh-CN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CC0-1.0</a:t>
            </a:r>
            <a:endParaRPr lang="zh-CN" altLang="en-US">
              <a:solidFill>
                <a:srgbClr val="18392A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746A-0929-474A-8B98-1F7D03E407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89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A7176-A56C-558F-7A27-068CF7C0F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E2CF99-B2BE-1604-315E-EF4F59B19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E803EB-2C82-CCDB-79CD-08876189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0F5AF-EFBE-2A79-9972-1603B1ED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891092-ACAA-B794-7ED8-178903EC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11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30CD8-F2EA-639C-1268-2C09CDBD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B1D317-F55E-9795-D710-AFD2D1D3B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15BC16-E386-DDFA-85F1-C8F769C4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EE148-56B6-9048-17D6-2D7DBEF1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FDF21-CF5A-F533-CB28-900C6964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195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54C34-F70B-9ACB-7921-EC064DFC3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22106-4325-EEFA-E058-A3457D861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1D5ECD-125E-AC99-C360-B4D86A86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049E7-C91D-96A7-85A8-EC5DD000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8B989E-6EC9-6824-0577-743D4BEF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765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87984-2A81-8D9A-B04D-68DA1594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AAD33-17CC-D0D7-8AFF-523BFC5C9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C9A43-7861-E4B8-53D2-6945E10B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E256E0-A702-9890-E97A-82364D62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738BA7-E140-6A86-563D-47BB050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425267-1EC7-7637-59AB-3D483CFC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2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602F-E71F-5CA2-5EDB-6D064958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85590-7151-EA30-07B2-F564117D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8D73F3-D19B-87CE-7A29-D15B06071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53AC2A-C5EB-8E63-E6A6-33E50EC8F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A9A1E4-886F-9D6E-A43A-B1FED13D1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55DC5B-74DD-EBF1-B8B6-F6A4FE96C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FB67B5-ADF5-0939-76BC-069B181C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E6C89F-687C-6A0C-24CC-BB7738FF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47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F4244-9917-4D1B-BF8B-660ACFB6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D04DE0-0A40-0219-B88E-9CE2DD9F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61E14E-06C1-DCCA-B326-72F3227A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49924F-780C-1FB0-1746-A4B57F33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40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866112-CD49-01E2-7A5C-7D35BA26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592AD4-6425-B02B-2A44-87446E5B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BBF75D-24F7-D501-4651-171B5DA3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96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CE9B2-F567-83BA-38AE-2F3AEAC9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F8F918-738C-5D43-C59A-4ACF9774C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1F87E9-C82B-51AA-DEF5-A0092D898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0A4DE6-937E-8BD7-B704-74C038B0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D18A8D-83BB-C8C4-6849-FB0AC422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291456-DAC5-F9ED-3226-A57A3000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3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89233-5BF9-29AA-9ABC-7E37CA55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5532D4-935C-9535-E403-7D287C6BFC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57B807-B13C-1D94-922E-1E02C79B4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5E91-CFF0-30A0-6D66-9EE5B0EE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C795ED-193A-4A0F-5247-39428F7A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D90BB2-9570-E75E-A5F0-073B9660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22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4A9C3-F3F9-0616-B670-03FF6FC8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4B8654-0A04-198F-C8CD-D0E93318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58920-C4C8-1A0C-29F3-37AB3F4D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C2483-1922-3387-C29F-D7F28F10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37211-FD67-A180-B237-8F4359AE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65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9D7FA0-21C6-59F8-41F3-AAC365724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B0C418-7FC2-6124-8193-6B1104285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04DEF-446B-3A3C-0D39-5F60C12B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BD8252-8615-4E3B-2BE2-7CBE367E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18982C-6C71-79C5-1C4D-8DEBB8B0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94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DAFCFC-A6A9-5C71-883F-7E409159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52943-E087-2196-3523-12F40A55F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5F6028-814B-E2E8-D810-8BE6DED7A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5E4E9-8E50-437F-BB4A-13CF3212801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06B19D-1C51-8FDF-B652-9364D2D4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941A21-6C80-BF0F-BCAB-CE775A6A5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202FF-2616-4649-9300-08E616C52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6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城市公园和植物叶片的自然照片">
            <a:extLst>
              <a:ext uri="{FF2B5EF4-FFF2-40B4-BE49-F238E27FC236}">
                <a16:creationId xmlns:a16="http://schemas.microsoft.com/office/drawing/2014/main" id="{8E75D4A8-0F9A-D115-AC84-66117A7726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66949"/>
            <a:ext cx="12192000" cy="8591897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28C9F186-78C7-E51C-C4CB-8A040EF578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4F6EC">
                  <a:alpha val="97000"/>
                </a:srgbClr>
              </a:gs>
              <a:gs pos="100000">
                <a:srgbClr val="F4F6EC">
                  <a:alpha val="0"/>
                </a:srgbClr>
              </a:gs>
              <a:gs pos="60000">
                <a:srgbClr val="F4F6EC">
                  <a:alpha val="94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21B465BD-225D-5D6E-DE1D-1F846001338B}"/>
              </a:ext>
            </a:extLst>
          </p:cNvPr>
          <p:cNvSpPr txBox="1"/>
          <p:nvPr/>
        </p:nvSpPr>
        <p:spPr>
          <a:xfrm>
            <a:off x="812800" y="1917700"/>
            <a:ext cx="82550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4400">
                <a:solidFill>
                  <a:srgbClr val="18392A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城市自然观察</a:t>
            </a: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8CECEE85-AA2A-38FA-55EA-3E739BA1CCE3}"/>
              </a:ext>
            </a:extLst>
          </p:cNvPr>
          <p:cNvSpPr txBox="1"/>
          <p:nvPr/>
        </p:nvSpPr>
        <p:spPr>
          <a:xfrm>
            <a:off x="838200" y="3175000"/>
            <a:ext cx="7493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一次从身边开始的观察练习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1132E0DC-31C8-FC94-23FC-3BE6E39043E7}"/>
              </a:ext>
            </a:extLst>
          </p:cNvPr>
          <p:cNvSpPr txBox="1"/>
          <p:nvPr/>
        </p:nvSpPr>
        <p:spPr>
          <a:xfrm>
            <a:off x="838200" y="3784600"/>
            <a:ext cx="7493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记录看见的细节，分享自己的发现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03CD62CB-4F8E-F42A-64E2-D3E7F5701758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18392A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01</a:t>
            </a:r>
            <a:endParaRPr lang="zh-CN" altLang="en-US" sz="1300">
              <a:solidFill>
                <a:srgbClr val="18392A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11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城市公园和植物叶片的自然照片">
            <a:extLst>
              <a:ext uri="{FF2B5EF4-FFF2-40B4-BE49-F238E27FC236}">
                <a16:creationId xmlns:a16="http://schemas.microsoft.com/office/drawing/2014/main" id="{E1C6A77D-7CDE-6313-3605-1F7DFF44407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609CE2C0-87EF-4D7B-2F18-00BA0038C7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4F6EC">
                  <a:alpha val="97000"/>
                </a:srgbClr>
              </a:gs>
              <a:gs pos="100000">
                <a:srgbClr val="F4F6EC">
                  <a:alpha val="0"/>
                </a:srgbClr>
              </a:gs>
              <a:gs pos="60000">
                <a:srgbClr val="F4F6EC">
                  <a:alpha val="94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7FD54079-BC40-5B00-FCF2-D39AD473F0A0}"/>
              </a:ext>
            </a:extLst>
          </p:cNvPr>
          <p:cNvSpPr txBox="1"/>
          <p:nvPr/>
        </p:nvSpPr>
        <p:spPr>
          <a:xfrm>
            <a:off x="812800" y="838200"/>
            <a:ext cx="10160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>
                <a:solidFill>
                  <a:srgbClr val="18392A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叶片观察</a:t>
            </a: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F903E43D-F43E-A38D-9C5D-C3F467FC0DBB}"/>
              </a:ext>
            </a:extLst>
          </p:cNvPr>
          <p:cNvSpPr txBox="1"/>
          <p:nvPr/>
        </p:nvSpPr>
        <p:spPr>
          <a:xfrm>
            <a:off x="838200" y="21463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叶形：先描述整体轮廓，再观察叶缘。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02CF6F26-B05C-07FA-80F1-C580244531E2}"/>
              </a:ext>
            </a:extLst>
          </p:cNvPr>
          <p:cNvSpPr txBox="1"/>
          <p:nvPr/>
        </p:nvSpPr>
        <p:spPr>
          <a:xfrm>
            <a:off x="838200" y="32639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叶脉：留意主脉与细脉的走向。</a:t>
            </a:r>
          </a:p>
        </p:txBody>
      </p:sp>
      <p:sp>
        <p:nvSpPr>
          <p:cNvPr id="8" name="body-3">
            <a:extLst>
              <a:ext uri="{FF2B5EF4-FFF2-40B4-BE49-F238E27FC236}">
                <a16:creationId xmlns:a16="http://schemas.microsoft.com/office/drawing/2014/main" id="{8A3DABD6-6349-E2E8-0D3E-CA79A8173233}"/>
              </a:ext>
            </a:extLst>
          </p:cNvPr>
          <p:cNvSpPr txBox="1"/>
          <p:nvPr/>
        </p:nvSpPr>
        <p:spPr>
          <a:xfrm>
            <a:off x="838200" y="43815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光线：比较同一片叶子在顺光和逆光下的样子。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7A39C0F8-EE96-1F60-A601-C3E5F4C56A27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18392A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02</a:t>
            </a:r>
            <a:endParaRPr lang="zh-CN" altLang="en-US" sz="1300">
              <a:solidFill>
                <a:srgbClr val="18392A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1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城市公园和植物叶片的自然照片">
            <a:extLst>
              <a:ext uri="{FF2B5EF4-FFF2-40B4-BE49-F238E27FC236}">
                <a16:creationId xmlns:a16="http://schemas.microsoft.com/office/drawing/2014/main" id="{E05386CA-4D0A-AB01-B651-5996BD51461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3000"/>
            <a:ext cx="12192000" cy="9144000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3808487D-7695-4132-966B-2AF3C90FFA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4F6EC">
                  <a:alpha val="98000"/>
                </a:srgbClr>
              </a:gs>
              <a:gs pos="100000">
                <a:srgbClr val="F4F6EC">
                  <a:alpha val="0"/>
                </a:srgbClr>
              </a:gs>
              <a:gs pos="60000">
                <a:srgbClr val="F4F6EC">
                  <a:alpha val="95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D366DF46-D14F-BD1C-9444-77C43FA39510}"/>
              </a:ext>
            </a:extLst>
          </p:cNvPr>
          <p:cNvSpPr txBox="1"/>
          <p:nvPr/>
        </p:nvSpPr>
        <p:spPr>
          <a:xfrm>
            <a:off x="812800" y="838200"/>
            <a:ext cx="10160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3400">
                <a:solidFill>
                  <a:srgbClr val="18392A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10</a:t>
            </a:r>
            <a:r>
              <a:rPr lang="zh-CN" altLang="en-US" sz="3400">
                <a:solidFill>
                  <a:srgbClr val="18392A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分钟观察安排</a:t>
            </a:r>
          </a:p>
        </p:txBody>
      </p:sp>
      <p:graphicFrame>
        <p:nvGraphicFramePr>
          <p:cNvPr id="6" name="editable-schedule">
            <a:extLst>
              <a:ext uri="{FF2B5EF4-FFF2-40B4-BE49-F238E27FC236}">
                <a16:creationId xmlns:a16="http://schemas.microsoft.com/office/drawing/2014/main" id="{2F556374-1A53-6E0C-50E4-3C1EF244F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158248"/>
              </p:ext>
            </p:extLst>
          </p:nvPr>
        </p:nvGraphicFramePr>
        <p:xfrm>
          <a:off x="812800" y="2159000"/>
          <a:ext cx="8890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983005877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100452631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3434098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时间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观察任务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记录方式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23901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0–2</a:t>
                      </a:r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分钟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选定一处观察点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写下时间与位置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3061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2–7</a:t>
                      </a:r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分钟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观察叶片与周围环境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描写细节并拍照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30288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7–10</a:t>
                      </a:r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分钟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整理一项有趣发现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18392A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选一张照片分享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F6EC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60039"/>
                  </a:ext>
                </a:extLst>
              </a:tr>
            </a:tbl>
          </a:graphicData>
        </a:graphic>
      </p:graphicFrame>
      <p:sp>
        <p:nvSpPr>
          <p:cNvPr id="7" name="table-caption">
            <a:extLst>
              <a:ext uri="{FF2B5EF4-FFF2-40B4-BE49-F238E27FC236}">
                <a16:creationId xmlns:a16="http://schemas.microsoft.com/office/drawing/2014/main" id="{F86AA619-418D-4533-67A7-CD77C9EC17F6}"/>
              </a:ext>
            </a:extLst>
          </p:cNvPr>
          <p:cNvSpPr txBox="1"/>
          <p:nvPr/>
        </p:nvSpPr>
        <p:spPr>
          <a:xfrm>
            <a:off x="838200" y="5549900"/>
            <a:ext cx="9398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0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沿开放步道观察，让植物保持原来的样子。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241D5FCF-9C17-3E71-0D63-B1DB632ABC68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18392A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03</a:t>
            </a:r>
            <a:endParaRPr lang="zh-CN" altLang="en-US" sz="1300">
              <a:solidFill>
                <a:srgbClr val="18392A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678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城市公园和植物叶片的自然照片">
            <a:extLst>
              <a:ext uri="{FF2B5EF4-FFF2-40B4-BE49-F238E27FC236}">
                <a16:creationId xmlns:a16="http://schemas.microsoft.com/office/drawing/2014/main" id="{8470431B-DC38-E93B-8BA2-7682DC1190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8065D709-1C75-D6F4-3F08-485689EF9D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4F6EC">
                  <a:alpha val="97000"/>
                </a:srgbClr>
              </a:gs>
              <a:gs pos="100000">
                <a:srgbClr val="F4F6EC">
                  <a:alpha val="0"/>
                </a:srgbClr>
              </a:gs>
              <a:gs pos="60000">
                <a:srgbClr val="F4F6EC">
                  <a:alpha val="94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BC434B45-2AF4-BFF1-52C1-BC3B6419BE6F}"/>
              </a:ext>
            </a:extLst>
          </p:cNvPr>
          <p:cNvSpPr txBox="1"/>
          <p:nvPr/>
        </p:nvSpPr>
        <p:spPr>
          <a:xfrm>
            <a:off x="812800" y="838200"/>
            <a:ext cx="10160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>
                <a:solidFill>
                  <a:srgbClr val="18392A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记录与分享</a:t>
            </a: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1158C964-64AF-DB93-6B62-9C246F470211}"/>
              </a:ext>
            </a:extLst>
          </p:cNvPr>
          <p:cNvSpPr txBox="1"/>
          <p:nvPr/>
        </p:nvSpPr>
        <p:spPr>
          <a:xfrm>
            <a:off x="838200" y="21463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记录时间与位置，给照片一个清楚的来处。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89ED09BF-1433-A1DD-4E1E-11399E87DAF4}"/>
              </a:ext>
            </a:extLst>
          </p:cNvPr>
          <p:cNvSpPr txBox="1"/>
          <p:nvPr/>
        </p:nvSpPr>
        <p:spPr>
          <a:xfrm>
            <a:off x="838200" y="32639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先写看见的细节，再写自己的推测。</a:t>
            </a:r>
          </a:p>
        </p:txBody>
      </p:sp>
      <p:sp>
        <p:nvSpPr>
          <p:cNvPr id="8" name="body-3">
            <a:extLst>
              <a:ext uri="{FF2B5EF4-FFF2-40B4-BE49-F238E27FC236}">
                <a16:creationId xmlns:a16="http://schemas.microsoft.com/office/drawing/2014/main" id="{D7588C8C-3E08-49A4-16CC-3B93C181A7C8}"/>
              </a:ext>
            </a:extLst>
          </p:cNvPr>
          <p:cNvSpPr txBox="1"/>
          <p:nvPr/>
        </p:nvSpPr>
        <p:spPr>
          <a:xfrm>
            <a:off x="838200" y="43815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18392A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分享时选一张照片，讲清楚最有意思的发现。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FCC4A097-D981-8973-01AF-76EACED95518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18392A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04</a:t>
            </a:r>
            <a:endParaRPr lang="zh-CN" altLang="en-US" sz="1300">
              <a:solidFill>
                <a:srgbClr val="18392A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81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自定义</PresentationFormat>
  <Paragraphs>37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Floyd Sibyl</dc:creator>
  <cp:lastModifiedBy>Floyd Sibyl</cp:lastModifiedBy>
  <cp:revision>1</cp:revision>
  <dcterms:created xsi:type="dcterms:W3CDTF">2026-10-21T10:22:50Z</dcterms:created>
  <dcterms:modified xsi:type="dcterms:W3CDTF">2026-10-21T10:22:51Z</dcterms:modified>
</cp:coreProperties>
</file>